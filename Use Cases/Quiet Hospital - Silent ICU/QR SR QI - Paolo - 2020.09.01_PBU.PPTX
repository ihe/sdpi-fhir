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631" r:id="rId2"/>
    <p:sldId id="2629" r:id="rId3"/>
    <p:sldId id="263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os Katzis" initials="KK" lastIdx="1" clrIdx="0">
    <p:extLst>
      <p:ext uri="{19B8F6BF-5375-455C-9EA6-DF929625EA0E}">
        <p15:presenceInfo xmlns:p15="http://schemas.microsoft.com/office/powerpoint/2012/main" userId="S::k.katzis@euc.ac.cy::b5db5973-8c74-4422-9270-3cae1a3037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  <a:srgbClr val="ED7D31"/>
    <a:srgbClr val="FFC000"/>
    <a:srgbClr val="FFE699"/>
    <a:srgbClr val="4472C4"/>
    <a:srgbClr val="81D1C1"/>
    <a:srgbClr val="A5A5A5"/>
    <a:srgbClr val="70AD47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/>
    <p:restoredTop sz="86411"/>
  </p:normalViewPr>
  <p:slideViewPr>
    <p:cSldViewPr snapToGrid="0" snapToObjects="1">
      <p:cViewPr varScale="1">
        <p:scale>
          <a:sx n="83" d="100"/>
          <a:sy n="83" d="100"/>
        </p:scale>
        <p:origin x="1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6FA20-4640-7944-9BFD-6B088B0AD491}" type="datetimeFigureOut">
              <a:rPr lang="en-US" smtClean="0"/>
              <a:t>01/09/2020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B2AD4-AB55-5140-93B6-EB054B01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1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96795" y="18256"/>
            <a:ext cx="11968825" cy="124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269788" y="1516706"/>
            <a:ext cx="11592697" cy="4661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357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191428" y="0"/>
            <a:ext cx="118407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67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-118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3" name="Google Shape;13;p1"/>
          <p:cNvCxnSpPr>
            <a:cxnSpLocks/>
          </p:cNvCxnSpPr>
          <p:nvPr/>
        </p:nvCxnSpPr>
        <p:spPr>
          <a:xfrm>
            <a:off x="-9235" y="6672325"/>
            <a:ext cx="12201235" cy="0"/>
          </a:xfrm>
          <a:prstGeom prst="straightConnector1">
            <a:avLst/>
          </a:prstGeom>
          <a:noFill/>
          <a:ln w="215900" cap="flat" cmpd="sng">
            <a:solidFill>
              <a:srgbClr val="01CAF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" name="Google Shape;15;p1"/>
          <p:cNvPicPr preferRelativeResize="0"/>
          <p:nvPr/>
        </p:nvPicPr>
        <p:blipFill rotWithShape="1">
          <a:blip r:embed="rId4">
            <a:alphaModFix/>
          </a:blip>
          <a:srcRect t="46050" r="56625" b="17956"/>
          <a:stretch/>
        </p:blipFill>
        <p:spPr>
          <a:xfrm>
            <a:off x="-9235" y="-11876"/>
            <a:ext cx="12192000" cy="126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5013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54822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E83A1E-250F-F44D-B81F-F29873D5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 vs. DAS vs. CDAS – v3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6FA7476-41A7-0C40-95B6-83F9E0852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788" y="1392527"/>
            <a:ext cx="11592697" cy="4661672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DIS is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 system for reporting alarm signals with no technical confirmation (of receipt).</a:t>
            </a:r>
          </a:p>
          <a:p>
            <a:pPr lvl="1"/>
            <a:r>
              <a:rPr lang="en-US" sz="2000" dirty="0"/>
              <a:t>Cannot rely on it for alarm </a:t>
            </a:r>
            <a:r>
              <a:rPr lang="en-US" sz="2000" dirty="0">
                <a:solidFill>
                  <a:schemeClr val="tx1"/>
                </a:solidFill>
              </a:rPr>
              <a:t>signaling as a risk control</a:t>
            </a:r>
          </a:p>
          <a:p>
            <a:pPr lvl="1"/>
            <a:r>
              <a:rPr lang="en-US" sz="2000" dirty="0"/>
              <a:t>Optional support operator alarm management* response </a:t>
            </a:r>
            <a:r>
              <a:rPr lang="en-US" sz="2000" dirty="0">
                <a:solidFill>
                  <a:srgbClr val="FF0000"/>
                </a:solidFill>
              </a:rPr>
              <a:t>locally</a:t>
            </a:r>
          </a:p>
          <a:p>
            <a:pPr lvl="2"/>
            <a:r>
              <a:rPr lang="en-US" sz="1600" dirty="0"/>
              <a:t>Example - patient remote display, hallway display, one-way pager</a:t>
            </a:r>
            <a:endParaRPr lang="en-US" sz="1200" dirty="0"/>
          </a:p>
          <a:p>
            <a:r>
              <a:rPr lang="en-US" sz="2400" dirty="0"/>
              <a:t>CDIS is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 system for reporting alarm signals with no technical confirmation and operator confirmation (accept/reject).</a:t>
            </a:r>
          </a:p>
          <a:p>
            <a:pPr lvl="1"/>
            <a:r>
              <a:rPr lang="en-US" sz="2000" dirty="0"/>
              <a:t>Cannot rely on it for alarm </a:t>
            </a:r>
            <a:r>
              <a:rPr lang="en-US" sz="2000" dirty="0">
                <a:solidFill>
                  <a:schemeClr val="tx1"/>
                </a:solidFill>
              </a:rPr>
              <a:t>signaling as a risk control </a:t>
            </a:r>
          </a:p>
          <a:p>
            <a:pPr lvl="1"/>
            <a:r>
              <a:rPr lang="en-US" sz="2000" dirty="0"/>
              <a:t>Optional support operator alarm management* response</a:t>
            </a:r>
            <a:r>
              <a:rPr lang="en-US" sz="2000" dirty="0">
                <a:solidFill>
                  <a:srgbClr val="FF0000"/>
                </a:solidFill>
              </a:rPr>
              <a:t> locally and remotely</a:t>
            </a:r>
            <a:endParaRPr lang="en-US" sz="2000" dirty="0"/>
          </a:p>
          <a:p>
            <a:pPr lvl="2"/>
            <a:r>
              <a:rPr lang="en-US" sz="1600" dirty="0"/>
              <a:t>Example – two-way pager (open loop)</a:t>
            </a:r>
            <a:endParaRPr lang="en-US" sz="1200" dirty="0"/>
          </a:p>
          <a:p>
            <a:r>
              <a:rPr lang="en-US" sz="2400" dirty="0"/>
              <a:t>DAS is a system for reporting alarm signals with technical confirmation (of receipt).</a:t>
            </a:r>
          </a:p>
          <a:p>
            <a:pPr lvl="1"/>
            <a:r>
              <a:rPr lang="en-US" sz="2000" dirty="0"/>
              <a:t>Can rely on it for alarm </a:t>
            </a:r>
            <a:r>
              <a:rPr lang="en-US" sz="2000" dirty="0">
                <a:solidFill>
                  <a:schemeClr val="tx1"/>
                </a:solidFill>
              </a:rPr>
              <a:t>signaling as a risk control</a:t>
            </a:r>
          </a:p>
          <a:p>
            <a:pPr lvl="1"/>
            <a:r>
              <a:rPr lang="en-US" sz="2000" dirty="0"/>
              <a:t>Optional support operator alarm management* response </a:t>
            </a:r>
            <a:r>
              <a:rPr lang="en-US" sz="2000" dirty="0">
                <a:solidFill>
                  <a:srgbClr val="FF0000"/>
                </a:solidFill>
              </a:rPr>
              <a:t>locally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 communications failure or failure in any remote component of the DAS must initiate a technical alarm.</a:t>
            </a:r>
            <a:endParaRPr lang="en-US" sz="2000" dirty="0">
              <a:solidFill>
                <a:srgbClr val="FF0000"/>
              </a:solidFill>
            </a:endParaRPr>
          </a:p>
          <a:p>
            <a:pPr lvl="2"/>
            <a:r>
              <a:rPr lang="en-US" sz="1600" dirty="0"/>
              <a:t>Example - Central Station</a:t>
            </a:r>
            <a:endParaRPr lang="en-US" sz="1200" dirty="0"/>
          </a:p>
          <a:p>
            <a:r>
              <a:rPr lang="en-US" sz="2400" dirty="0"/>
              <a:t>CDAS is a </a:t>
            </a:r>
            <a:r>
              <a:rPr lang="en-US" sz="2400" dirty="0">
                <a:solidFill>
                  <a:schemeClr val="tx1"/>
                </a:solidFill>
              </a:rPr>
              <a:t>system for </a:t>
            </a:r>
            <a:r>
              <a:rPr lang="en-US" sz="2400" dirty="0"/>
              <a:t>reporting alarm signals with technical and operator confirmation (accept/reject) (of receipt).</a:t>
            </a:r>
          </a:p>
          <a:p>
            <a:pPr lvl="1"/>
            <a:r>
              <a:rPr lang="en-US" sz="2000" dirty="0"/>
              <a:t>Can rely on it for alarm </a:t>
            </a:r>
            <a:r>
              <a:rPr lang="en-US" sz="2000" dirty="0">
                <a:solidFill>
                  <a:schemeClr val="tx1"/>
                </a:solidFill>
              </a:rPr>
              <a:t>signaling as a risk control</a:t>
            </a:r>
          </a:p>
          <a:p>
            <a:pPr lvl="1"/>
            <a:r>
              <a:rPr lang="en-US" sz="2000" dirty="0"/>
              <a:t>Supports operator confirmation (accept/reject); It may redirect…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Optional support </a:t>
            </a:r>
            <a:r>
              <a:rPr lang="en-US" sz="2000" dirty="0"/>
              <a:t>operator alarm management* response both </a:t>
            </a:r>
            <a:r>
              <a:rPr lang="en-US" sz="2000" dirty="0">
                <a:solidFill>
                  <a:srgbClr val="FF0000"/>
                </a:solidFill>
              </a:rPr>
              <a:t>locally and remotely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 communications failure or failure in any remote component of the DAS must initiate a technical alarm.</a:t>
            </a:r>
            <a:endParaRPr lang="en-US" sz="2000" dirty="0">
              <a:solidFill>
                <a:srgbClr val="FF0000"/>
              </a:solidFill>
            </a:endParaRPr>
          </a:p>
          <a:p>
            <a:pPr lvl="2"/>
            <a:r>
              <a:rPr lang="en-US" sz="1600" dirty="0"/>
              <a:t>Example -  System that sends alarm to caregiver mobile device with accept / reject.  Integrator may redirect</a:t>
            </a:r>
          </a:p>
          <a:p>
            <a:pPr marL="1028700" lvl="2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5F30ED4-C44A-2E4C-B841-9ACE01D05B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9ED59C5-09C8-474A-AC60-F7B2569E5184}"/>
              </a:ext>
            </a:extLst>
          </p:cNvPr>
          <p:cNvSpPr txBox="1"/>
          <p:nvPr/>
        </p:nvSpPr>
        <p:spPr>
          <a:xfrm>
            <a:off x="1671326" y="6186336"/>
            <a:ext cx="685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Alarm management is the ability to inactivate the alarm in some fashion</a:t>
            </a:r>
          </a:p>
        </p:txBody>
      </p:sp>
    </p:spTree>
    <p:extLst>
      <p:ext uri="{BB962C8B-B14F-4D97-AF65-F5344CB8AC3E}">
        <p14:creationId xmlns:p14="http://schemas.microsoft.com/office/powerpoint/2010/main" val="90396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B7A2EE-2C5B-324C-BE77-E81FBC21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System Variants – v3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B92DEF4-1DC3-2143-8511-9D1A9F41F9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E1DD5211-9948-2D45-A4E3-935C2344F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430203"/>
              </p:ext>
            </p:extLst>
          </p:nvPr>
        </p:nvGraphicFramePr>
        <p:xfrm>
          <a:off x="515785" y="1404342"/>
          <a:ext cx="11130844" cy="4053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883">
                  <a:extLst>
                    <a:ext uri="{9D8B030D-6E8A-4147-A177-3AD203B41FA5}">
                      <a16:colId xmlns="" xmlns:a16="http://schemas.microsoft.com/office/drawing/2014/main" val="1301002076"/>
                    </a:ext>
                  </a:extLst>
                </a:gridCol>
                <a:gridCol w="998094">
                  <a:extLst>
                    <a:ext uri="{9D8B030D-6E8A-4147-A177-3AD203B41FA5}">
                      <a16:colId xmlns="" xmlns:a16="http://schemas.microsoft.com/office/drawing/2014/main" val="2691765466"/>
                    </a:ext>
                  </a:extLst>
                </a:gridCol>
                <a:gridCol w="1457225">
                  <a:extLst>
                    <a:ext uri="{9D8B030D-6E8A-4147-A177-3AD203B41FA5}">
                      <a16:colId xmlns="" xmlns:a16="http://schemas.microsoft.com/office/drawing/2014/main" val="2844586280"/>
                    </a:ext>
                  </a:extLst>
                </a:gridCol>
                <a:gridCol w="1560744">
                  <a:extLst>
                    <a:ext uri="{9D8B030D-6E8A-4147-A177-3AD203B41FA5}">
                      <a16:colId xmlns="" xmlns:a16="http://schemas.microsoft.com/office/drawing/2014/main" val="4246825523"/>
                    </a:ext>
                  </a:extLst>
                </a:gridCol>
                <a:gridCol w="1353707">
                  <a:extLst>
                    <a:ext uri="{9D8B030D-6E8A-4147-A177-3AD203B41FA5}">
                      <a16:colId xmlns="" xmlns:a16="http://schemas.microsoft.com/office/drawing/2014/main" val="1259764528"/>
                    </a:ext>
                  </a:extLst>
                </a:gridCol>
                <a:gridCol w="3963191">
                  <a:extLst>
                    <a:ext uri="{9D8B030D-6E8A-4147-A177-3AD203B41FA5}">
                      <a16:colId xmlns="" xmlns:a16="http://schemas.microsoft.com/office/drawing/2014/main" val="335788392"/>
                    </a:ext>
                  </a:extLst>
                </a:gridCol>
              </a:tblGrid>
              <a:tr h="5666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Technical</a:t>
                      </a:r>
                    </a:p>
                    <a:p>
                      <a:pPr algn="ctr"/>
                      <a:r>
                        <a:rPr lang="en-US" dirty="0"/>
                        <a:t>Delivery</a:t>
                      </a:r>
                    </a:p>
                    <a:p>
                      <a:pPr algn="ctr"/>
                      <a:r>
                        <a:rPr lang="en-US" dirty="0"/>
                        <a:t>Confirmation*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  <a:p>
                      <a:pPr algn="ctr"/>
                      <a:r>
                        <a:rPr lang="en-US" dirty="0"/>
                        <a:t>Delivery Confirmation**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Optional</a:t>
                      </a:r>
                    </a:p>
                    <a:p>
                      <a:pPr algn="ctr"/>
                      <a:r>
                        <a:rPr lang="en-US" dirty="0"/>
                        <a:t>Alarm</a:t>
                      </a:r>
                      <a:br>
                        <a:rPr lang="en-US" dirty="0"/>
                      </a:br>
                      <a:r>
                        <a:rPr lang="en-US" dirty="0"/>
                        <a:t>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548926841"/>
                  </a:ext>
                </a:extLst>
              </a:tr>
              <a:tr h="270350">
                <a:tc rowSpan="4">
                  <a:txBody>
                    <a:bodyPr/>
                    <a:lstStyle/>
                    <a:p>
                      <a:r>
                        <a:rPr lang="en-US" dirty="0"/>
                        <a:t>Reports alerts from devices for a </a:t>
                      </a:r>
                      <a:r>
                        <a:rPr lang="en-US" u="sng" dirty="0"/>
                        <a:t>Single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DISsp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Single-Pt. information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84134804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CDISsp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Remote***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Single-Pt. information dashboard w/accept/reject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34145607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DASsp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Single-Pt. Remote View w/audible alarms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41029553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CDASsp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Single-Pt. Remote View w/accept/reject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39726555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DISmp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Local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Multi-Pt. info. dashboard or View Station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92781413"/>
                  </a:ext>
                </a:extLst>
              </a:tr>
              <a:tr h="270350">
                <a:tc rowSpan="3">
                  <a:txBody>
                    <a:bodyPr/>
                    <a:lstStyle/>
                    <a:p>
                      <a:r>
                        <a:rPr lang="en-US" dirty="0"/>
                        <a:t>Reports alerts for </a:t>
                      </a:r>
                      <a:r>
                        <a:rPr lang="en-US" u="sng" dirty="0"/>
                        <a:t>Multiple Patients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CDISmp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Yes***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Remote***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Multi-Pt. info. View Station w/accept/reject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78253371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DASmp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Local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Multi-Pt. View Station with audible alarms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96851318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CDASmp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Remote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Multi-Pt. Central Station w/accept/reject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25262917"/>
                  </a:ext>
                </a:extLst>
              </a:tr>
              <a:tr h="27035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Reports and directs alerts to a </a:t>
                      </a:r>
                      <a:r>
                        <a:rPr lang="en-US" u="none" dirty="0"/>
                        <a:t>responsible </a:t>
                      </a:r>
                      <a:r>
                        <a:rPr lang="en-US" u="sng" dirty="0" err="1"/>
                        <a:t>CareGiver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DIScg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Alerts to caregiver pager, Mobile viewer w/accept/reject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81985975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CDIScg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Remote***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Alerts to caregiver pager, Mobile viewer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9640372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DAScg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Alerts to caregiver w/audible/haptic alarms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88336477"/>
                  </a:ext>
                </a:extLst>
              </a:tr>
              <a:tr h="27035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CDAScg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Alerts to caregiver w/accept/reject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244007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081E920-6ECC-5A48-99CE-BCEF3046B2A6}"/>
              </a:ext>
            </a:extLst>
          </p:cNvPr>
          <p:cNvSpPr txBox="1"/>
          <p:nvPr/>
        </p:nvSpPr>
        <p:spPr>
          <a:xfrm>
            <a:off x="1685227" y="5588141"/>
            <a:ext cx="952376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</a:rPr>
              <a:t>* </a:t>
            </a:r>
            <a:r>
              <a:rPr lang="en-US" sz="1050" dirty="0">
                <a:solidFill>
                  <a:srgbClr val="C00000"/>
                </a:solidFill>
              </a:rPr>
              <a:t>In each communication step the receiving device provides a technical response to the sending device that it received and is taking responsibility of the alert</a:t>
            </a:r>
            <a:endParaRPr lang="en-US" sz="1050" dirty="0">
              <a:solidFill>
                <a:srgbClr val="C00000"/>
              </a:solidFill>
            </a:endParaRPr>
          </a:p>
          <a:p>
            <a:r>
              <a:rPr lang="en-US" sz="1050" dirty="0"/>
              <a:t>**Operator can, at their choice, use the receiving device (communicator) UI to accept or reject responsibility for the alert</a:t>
            </a:r>
          </a:p>
          <a:p>
            <a:r>
              <a:rPr lang="en-US" sz="1050" dirty="0"/>
              <a:t>*** Not recommended since there is no confirmation that the Source has received the commands</a:t>
            </a:r>
          </a:p>
        </p:txBody>
      </p:sp>
    </p:spTree>
    <p:extLst>
      <p:ext uri="{BB962C8B-B14F-4D97-AF65-F5344CB8AC3E}">
        <p14:creationId xmlns:p14="http://schemas.microsoft.com/office/powerpoint/2010/main" val="85600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C29A5F-D988-9746-923C-0B8AB610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865513E-FB4D-0D42-A04A-D3A2DA813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Room is possible with:</a:t>
            </a:r>
          </a:p>
          <a:p>
            <a:pPr lvl="1"/>
            <a:r>
              <a:rPr lang="en-US" dirty="0" err="1"/>
              <a:t>CDISmp</a:t>
            </a:r>
            <a:r>
              <a:rPr lang="en-US" dirty="0"/>
              <a:t> after Accept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Receiving the operator Accept the source device may decide to enter audio pause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Silent Room is possible with:</a:t>
            </a:r>
          </a:p>
          <a:p>
            <a:pPr lvl="1"/>
            <a:r>
              <a:rPr lang="en-US" dirty="0" err="1"/>
              <a:t>DASmp</a:t>
            </a:r>
            <a:r>
              <a:rPr lang="en-US" dirty="0"/>
              <a:t> or </a:t>
            </a:r>
            <a:r>
              <a:rPr lang="en-US" dirty="0" err="1"/>
              <a:t>CDASmp</a:t>
            </a:r>
            <a:endParaRPr lang="en-US" dirty="0"/>
          </a:p>
          <a:p>
            <a:pPr lvl="2"/>
            <a:r>
              <a:rPr lang="en-US" dirty="0"/>
              <a:t>If alerts are delegated to </a:t>
            </a:r>
            <a:r>
              <a:rPr lang="en-US" dirty="0" err="1"/>
              <a:t>DASmp</a:t>
            </a:r>
            <a:r>
              <a:rPr lang="en-US" dirty="0"/>
              <a:t> or </a:t>
            </a:r>
            <a:r>
              <a:rPr lang="en-US" dirty="0" err="1"/>
              <a:t>CDASmp</a:t>
            </a:r>
            <a:endParaRPr lang="en-US" dirty="0"/>
          </a:p>
          <a:p>
            <a:r>
              <a:rPr lang="en-US" dirty="0"/>
              <a:t>Silent ICU is possible with:</a:t>
            </a:r>
          </a:p>
          <a:p>
            <a:pPr lvl="1"/>
            <a:r>
              <a:rPr lang="en-US" dirty="0" err="1"/>
              <a:t>DAScg</a:t>
            </a:r>
            <a:r>
              <a:rPr lang="en-US" dirty="0"/>
              <a:t> or </a:t>
            </a:r>
            <a:r>
              <a:rPr lang="en-US" dirty="0" err="1"/>
              <a:t>CDAScg</a:t>
            </a:r>
            <a:endParaRPr lang="en-US" dirty="0"/>
          </a:p>
          <a:p>
            <a:pPr lvl="2"/>
            <a:r>
              <a:rPr lang="en-US" dirty="0"/>
              <a:t>If alerts are delegated to </a:t>
            </a:r>
            <a:r>
              <a:rPr lang="en-US" dirty="0" err="1"/>
              <a:t>DAScg</a:t>
            </a:r>
            <a:r>
              <a:rPr lang="en-US" dirty="0"/>
              <a:t> or </a:t>
            </a:r>
            <a:r>
              <a:rPr lang="en-US" dirty="0" err="1"/>
              <a:t>CDAScg</a:t>
            </a:r>
            <a:endParaRPr lang="en-US" dirty="0"/>
          </a:p>
          <a:p>
            <a:pPr lvl="2"/>
            <a:r>
              <a:rPr lang="en-US" dirty="0"/>
              <a:t>If caregiver device is treated as alert risk control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EDFF65C-5E24-7C4C-AC95-55F93A459A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050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58949</TotalTime>
  <Words>557</Words>
  <Application>Microsoft Office PowerPoint</Application>
  <PresentationFormat>Widescreen</PresentationFormat>
  <Paragraphs>112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1_Office Theme</vt:lpstr>
      <vt:lpstr>DIS vs. DAS vs. CDAS – v3</vt:lpstr>
      <vt:lpstr>Alert System Variants – v3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Florence Hudson</dc:creator>
  <cp:lastModifiedBy>Paolo Burchietti</cp:lastModifiedBy>
  <cp:revision>645</cp:revision>
  <dcterms:created xsi:type="dcterms:W3CDTF">2019-10-18T16:45:29Z</dcterms:created>
  <dcterms:modified xsi:type="dcterms:W3CDTF">2020-09-01T08:22:47Z</dcterms:modified>
</cp:coreProperties>
</file>